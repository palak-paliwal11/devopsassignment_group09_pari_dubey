
<file path=[Content_Types].xml><?xml version="1.0" encoding="utf-8"?>
<Types xmlns="http://schemas.openxmlformats.org/package/2006/content-types">
  <Default ContentType="image/vnd.ms-photo" Extension="wdp"/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drawingml.diagramData+xml" PartName="/ppt/diagrams/data1.xml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drawingml.diagramLayout+xml" PartName="/ppt/diagrams/layout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drawingml.diagramStyle+xml" PartName="/ppt/diagrams/quickStyl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ms-office.drawingml.diagramDrawing+xml" PartName="/ppt/diagrams/drawing1.xml"/>
  <Override ContentType="application/vnd.openxmlformats-officedocument.presentationml.presProps+xml" PartName="/ppt/presProps1.xml"/>
  <Override ContentType="application/vnd.openxmlformats-officedocument.drawingml.diagramColors+xml" PartName="/ppt/diagrams/colors1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schemas.openxmlformats.org/officeDocument/2006/relationships/slide" Target="slides/slide18.xml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BD0CF55-F78F-4CFB-8D62-488B899E3013}" type="doc">
      <dgm:prSet loTypeId="urn:microsoft.com/office/officeart/2005/8/layout/vList3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IN"/>
        </a:p>
      </dgm:t>
    </dgm:pt>
    <dgm:pt modelId="{3C638CEB-F5F0-4CA3-8123-981DFA115335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TRELLO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AC796F-2E0C-4A9C-A6ED-B7FB972D1B29}" type="parTrans" cxnId="{01FAD8C4-D511-4205-88D7-5A3713ED61F5}">
      <dgm:prSet/>
      <dgm:spPr/>
      <dgm:t>
        <a:bodyPr/>
        <a:lstStyle/>
        <a:p>
          <a:endParaRPr lang="en-IN"/>
        </a:p>
      </dgm:t>
    </dgm:pt>
    <dgm:pt modelId="{BE191430-0004-4A17-8386-BB3D7DF31898}" type="sibTrans" cxnId="{01FAD8C4-D511-4205-88D7-5A3713ED61F5}">
      <dgm:prSet/>
      <dgm:spPr/>
      <dgm:t>
        <a:bodyPr/>
        <a:lstStyle/>
        <a:p>
          <a:endParaRPr lang="en-IN"/>
        </a:p>
      </dgm:t>
    </dgm:pt>
    <dgm:pt modelId="{09A8E23B-65F8-4B79-8C0F-53C5DF740F8A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AZURE BOARDS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860607-F324-4BEB-B22F-C4E6944AB2CE}" type="parTrans" cxnId="{B0E665A7-E841-438C-89CA-3DB7E125ED1A}">
      <dgm:prSet/>
      <dgm:spPr/>
      <dgm:t>
        <a:bodyPr/>
        <a:lstStyle/>
        <a:p>
          <a:endParaRPr lang="en-IN"/>
        </a:p>
      </dgm:t>
    </dgm:pt>
    <dgm:pt modelId="{14F53F40-4DB6-4C6C-B018-4CCF227BF010}" type="sibTrans" cxnId="{B0E665A7-E841-438C-89CA-3DB7E125ED1A}">
      <dgm:prSet/>
      <dgm:spPr/>
      <dgm:t>
        <a:bodyPr/>
        <a:lstStyle/>
        <a:p>
          <a:endParaRPr lang="en-IN"/>
        </a:p>
      </dgm:t>
    </dgm:pt>
    <dgm:pt modelId="{AC2106E4-97BD-4C8F-83A7-694571C52818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JIRA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C707974-42FF-45AC-A723-BD20C7879004}" type="sibTrans" cxnId="{FDCB1A2D-3260-42B3-8429-017EA1A6A3A4}">
      <dgm:prSet/>
      <dgm:spPr/>
      <dgm:t>
        <a:bodyPr/>
        <a:lstStyle/>
        <a:p>
          <a:endParaRPr lang="en-IN"/>
        </a:p>
      </dgm:t>
    </dgm:pt>
    <dgm:pt modelId="{82B674DD-4B4B-44E0-B905-5A59C613110E}" type="parTrans" cxnId="{FDCB1A2D-3260-42B3-8429-017EA1A6A3A4}">
      <dgm:prSet/>
      <dgm:spPr/>
      <dgm:t>
        <a:bodyPr/>
        <a:lstStyle/>
        <a:p>
          <a:endParaRPr lang="en-IN"/>
        </a:p>
      </dgm:t>
    </dgm:pt>
    <dgm:pt modelId="{2AB27638-F7F6-4463-91D3-957B8FDE3BC4}" type="pres">
      <dgm:prSet presAssocID="{BBD0CF55-F78F-4CFB-8D62-488B899E3013}" presName="linearFlow" presStyleCnt="0">
        <dgm:presLayoutVars>
          <dgm:dir/>
          <dgm:resizeHandles val="exact"/>
        </dgm:presLayoutVars>
      </dgm:prSet>
      <dgm:spPr/>
    </dgm:pt>
    <dgm:pt modelId="{478B0F4A-FD08-48A5-85EB-BA00D00565A7}" type="pres">
      <dgm:prSet presAssocID="{AC2106E4-97BD-4C8F-83A7-694571C52818}" presName="composite" presStyleCnt="0"/>
      <dgm:spPr/>
    </dgm:pt>
    <dgm:pt modelId="{EDBCC120-2B81-4AE3-80F6-0B9B6D0C9F55}" type="pres">
      <dgm:prSet presAssocID="{AC2106E4-97BD-4C8F-83A7-694571C52818}" presName="imgShp" presStyleLbl="fgImgPlace1" presStyleIdx="0" presStyleCnt="3"/>
      <dgm:spPr>
        <a:blipFill dpi="0" rotWithShape="1">
          <a:blip xmlns:r="http://schemas.openxmlformats.org/officeDocument/2006/relationships" r:embed="rId1"/>
          <a:srcRect/>
          <a:stretch>
            <a:fillRect l="1" t="1" r="1852" b="1852"/>
          </a:stretch>
        </a:blipFill>
      </dgm:spPr>
    </dgm:pt>
    <dgm:pt modelId="{D1BE42EA-B0BE-41DD-B6DB-3A6F1035B2DC}" type="pres">
      <dgm:prSet presAssocID="{AC2106E4-97BD-4C8F-83A7-694571C52818}" presName="txShp" presStyleLbl="node1" presStyleIdx="0" presStyleCnt="3">
        <dgm:presLayoutVars>
          <dgm:bulletEnabled val="1"/>
        </dgm:presLayoutVars>
      </dgm:prSet>
      <dgm:spPr/>
    </dgm:pt>
    <dgm:pt modelId="{8A391A0F-1758-4277-A434-35A6F682C078}" type="pres">
      <dgm:prSet presAssocID="{DC707974-42FF-45AC-A723-BD20C7879004}" presName="spacing" presStyleCnt="0"/>
      <dgm:spPr/>
    </dgm:pt>
    <dgm:pt modelId="{D67FA295-2FCA-477F-832D-D19BF9BDAD01}" type="pres">
      <dgm:prSet presAssocID="{3C638CEB-F5F0-4CA3-8123-981DFA115335}" presName="composite" presStyleCnt="0"/>
      <dgm:spPr/>
    </dgm:pt>
    <dgm:pt modelId="{AFEA6446-2F5F-4E6C-B688-181DBAF70136}" type="pres">
      <dgm:prSet presAssocID="{3C638CEB-F5F0-4CA3-8123-981DFA115335}" presName="imgShp" presStyleLbl="fgImgPlace1" presStyleIdx="1" presStyleCnt="3"/>
      <dgm:spPr>
        <a:blipFill dpi="0" rotWithShape="1">
          <a:blip xmlns:r="http://schemas.openxmlformats.org/officeDocument/2006/relationships" r:embed="rId2"/>
          <a:srcRect/>
          <a:stretch>
            <a:fillRect l="-80944" t="-49402" r="-79911" b="-45268"/>
          </a:stretch>
        </a:blipFill>
      </dgm:spPr>
    </dgm:pt>
    <dgm:pt modelId="{45591774-CD06-4245-A196-9853A59AC3B9}" type="pres">
      <dgm:prSet presAssocID="{3C638CEB-F5F0-4CA3-8123-981DFA115335}" presName="txShp" presStyleLbl="node1" presStyleIdx="1" presStyleCnt="3">
        <dgm:presLayoutVars>
          <dgm:bulletEnabled val="1"/>
        </dgm:presLayoutVars>
      </dgm:prSet>
      <dgm:spPr/>
    </dgm:pt>
    <dgm:pt modelId="{23103723-876E-4EEB-B673-CE3C6F46B74F}" type="pres">
      <dgm:prSet presAssocID="{BE191430-0004-4A17-8386-BB3D7DF31898}" presName="spacing" presStyleCnt="0"/>
      <dgm:spPr/>
    </dgm:pt>
    <dgm:pt modelId="{C844C57D-B5A8-47CC-B54B-16DE0D6912D7}" type="pres">
      <dgm:prSet presAssocID="{09A8E23B-65F8-4B79-8C0F-53C5DF740F8A}" presName="composite" presStyleCnt="0"/>
      <dgm:spPr/>
    </dgm:pt>
    <dgm:pt modelId="{05610CC2-358D-4239-962D-BDB4DF48F035}" type="pres">
      <dgm:prSet presAssocID="{09A8E23B-65F8-4B79-8C0F-53C5DF740F8A}" presName="imgShp" presStyleLbl="fgImgPlace1" presStyleIdx="2" presStyleCnt="3"/>
      <dgm:spPr>
        <a:blipFill dpi="0" rotWithShape="1">
          <a:blip xmlns:r="http://schemas.openxmlformats.org/officeDocument/2006/relationships" r:embed="rId3"/>
          <a:srcRect/>
          <a:stretch>
            <a:fillRect l="-8907" t="9810" r="-33555" b="-28528"/>
          </a:stretch>
        </a:blipFill>
      </dgm:spPr>
    </dgm:pt>
    <dgm:pt modelId="{6F05D3A9-1659-4CE2-AD48-D09F42F14038}" type="pres">
      <dgm:prSet presAssocID="{09A8E23B-65F8-4B79-8C0F-53C5DF740F8A}" presName="txShp" presStyleLbl="node1" presStyleIdx="2" presStyleCnt="3">
        <dgm:presLayoutVars>
          <dgm:bulletEnabled val="1"/>
        </dgm:presLayoutVars>
      </dgm:prSet>
      <dgm:spPr/>
    </dgm:pt>
  </dgm:ptLst>
  <dgm:cxnLst>
    <dgm:cxn modelId="{F844CB29-E5B1-4D07-A0F3-37FD139CD5F0}" type="presOf" srcId="{AC2106E4-97BD-4C8F-83A7-694571C52818}" destId="{D1BE42EA-B0BE-41DD-B6DB-3A6F1035B2DC}" srcOrd="0" destOrd="0" presId="urn:microsoft.com/office/officeart/2005/8/layout/vList3"/>
    <dgm:cxn modelId="{FDCB1A2D-3260-42B3-8429-017EA1A6A3A4}" srcId="{BBD0CF55-F78F-4CFB-8D62-488B899E3013}" destId="{AC2106E4-97BD-4C8F-83A7-694571C52818}" srcOrd="0" destOrd="0" parTransId="{82B674DD-4B4B-44E0-B905-5A59C613110E}" sibTransId="{DC707974-42FF-45AC-A723-BD20C7879004}"/>
    <dgm:cxn modelId="{525E9E63-7C7D-4C51-9653-DA7176BD2B10}" type="presOf" srcId="{09A8E23B-65F8-4B79-8C0F-53C5DF740F8A}" destId="{6F05D3A9-1659-4CE2-AD48-D09F42F14038}" srcOrd="0" destOrd="0" presId="urn:microsoft.com/office/officeart/2005/8/layout/vList3"/>
    <dgm:cxn modelId="{7E863175-C71D-42FF-839F-B26348E2C628}" type="presOf" srcId="{BBD0CF55-F78F-4CFB-8D62-488B899E3013}" destId="{2AB27638-F7F6-4463-91D3-957B8FDE3BC4}" srcOrd="0" destOrd="0" presId="urn:microsoft.com/office/officeart/2005/8/layout/vList3"/>
    <dgm:cxn modelId="{B0E665A7-E841-438C-89CA-3DB7E125ED1A}" srcId="{BBD0CF55-F78F-4CFB-8D62-488B899E3013}" destId="{09A8E23B-65F8-4B79-8C0F-53C5DF740F8A}" srcOrd="2" destOrd="0" parTransId="{3B860607-F324-4BEB-B22F-C4E6944AB2CE}" sibTransId="{14F53F40-4DB6-4C6C-B018-4CCF227BF010}"/>
    <dgm:cxn modelId="{01FAD8C4-D511-4205-88D7-5A3713ED61F5}" srcId="{BBD0CF55-F78F-4CFB-8D62-488B899E3013}" destId="{3C638CEB-F5F0-4CA3-8123-981DFA115335}" srcOrd="1" destOrd="0" parTransId="{AFAC796F-2E0C-4A9C-A6ED-B7FB972D1B29}" sibTransId="{BE191430-0004-4A17-8386-BB3D7DF31898}"/>
    <dgm:cxn modelId="{BF766AE6-83B0-4F1A-9B66-1E83F1F928EA}" type="presOf" srcId="{3C638CEB-F5F0-4CA3-8123-981DFA115335}" destId="{45591774-CD06-4245-A196-9853A59AC3B9}" srcOrd="0" destOrd="0" presId="urn:microsoft.com/office/officeart/2005/8/layout/vList3"/>
    <dgm:cxn modelId="{43B0F337-11E9-459D-9ECB-8DE227D16489}" type="presParOf" srcId="{2AB27638-F7F6-4463-91D3-957B8FDE3BC4}" destId="{478B0F4A-FD08-48A5-85EB-BA00D00565A7}" srcOrd="0" destOrd="0" presId="urn:microsoft.com/office/officeart/2005/8/layout/vList3"/>
    <dgm:cxn modelId="{453B7420-16B5-476A-A3D8-68467F046074}" type="presParOf" srcId="{478B0F4A-FD08-48A5-85EB-BA00D00565A7}" destId="{EDBCC120-2B81-4AE3-80F6-0B9B6D0C9F55}" srcOrd="0" destOrd="0" presId="urn:microsoft.com/office/officeart/2005/8/layout/vList3"/>
    <dgm:cxn modelId="{5EDD6139-0A86-4E09-AB73-4A3538A159E8}" type="presParOf" srcId="{478B0F4A-FD08-48A5-85EB-BA00D00565A7}" destId="{D1BE42EA-B0BE-41DD-B6DB-3A6F1035B2DC}" srcOrd="1" destOrd="0" presId="urn:microsoft.com/office/officeart/2005/8/layout/vList3"/>
    <dgm:cxn modelId="{3F75CCCC-DDC7-4CC4-A3CD-C5FAB445D7C7}" type="presParOf" srcId="{2AB27638-F7F6-4463-91D3-957B8FDE3BC4}" destId="{8A391A0F-1758-4277-A434-35A6F682C078}" srcOrd="1" destOrd="0" presId="urn:microsoft.com/office/officeart/2005/8/layout/vList3"/>
    <dgm:cxn modelId="{417B8EFA-9F21-45BC-82D6-491ADEB92448}" type="presParOf" srcId="{2AB27638-F7F6-4463-91D3-957B8FDE3BC4}" destId="{D67FA295-2FCA-477F-832D-D19BF9BDAD01}" srcOrd="2" destOrd="0" presId="urn:microsoft.com/office/officeart/2005/8/layout/vList3"/>
    <dgm:cxn modelId="{7CF14198-E7DF-4434-B47E-67ABD3009867}" type="presParOf" srcId="{D67FA295-2FCA-477F-832D-D19BF9BDAD01}" destId="{AFEA6446-2F5F-4E6C-B688-181DBAF70136}" srcOrd="0" destOrd="0" presId="urn:microsoft.com/office/officeart/2005/8/layout/vList3"/>
    <dgm:cxn modelId="{E6D91268-E5B3-4566-A874-B67EBD4DCE27}" type="presParOf" srcId="{D67FA295-2FCA-477F-832D-D19BF9BDAD01}" destId="{45591774-CD06-4245-A196-9853A59AC3B9}" srcOrd="1" destOrd="0" presId="urn:microsoft.com/office/officeart/2005/8/layout/vList3"/>
    <dgm:cxn modelId="{8C35408A-592C-4C50-B949-22D82D374CDB}" type="presParOf" srcId="{2AB27638-F7F6-4463-91D3-957B8FDE3BC4}" destId="{23103723-876E-4EEB-B673-CE3C6F46B74F}" srcOrd="3" destOrd="0" presId="urn:microsoft.com/office/officeart/2005/8/layout/vList3"/>
    <dgm:cxn modelId="{E97AFB1E-76BD-470D-9E3A-F700AAF82D1D}" type="presParOf" srcId="{2AB27638-F7F6-4463-91D3-957B8FDE3BC4}" destId="{C844C57D-B5A8-47CC-B54B-16DE0D6912D7}" srcOrd="4" destOrd="0" presId="urn:microsoft.com/office/officeart/2005/8/layout/vList3"/>
    <dgm:cxn modelId="{C089E612-2329-4DA7-89F1-BC02E88DEFF2}" type="presParOf" srcId="{C844C57D-B5A8-47CC-B54B-16DE0D6912D7}" destId="{05610CC2-358D-4239-962D-BDB4DF48F035}" srcOrd="0" destOrd="0" presId="urn:microsoft.com/office/officeart/2005/8/layout/vList3"/>
    <dgm:cxn modelId="{09C69B53-383B-4F4F-9DB9-C1A25EA7B3D8}" type="presParOf" srcId="{C844C57D-B5A8-47CC-B54B-16DE0D6912D7}" destId="{6F05D3A9-1659-4CE2-AD48-D09F42F14038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BE42EA-B0BE-41DD-B6DB-3A6F1035B2DC}">
      <dsp:nvSpPr>
        <dsp:cNvPr id="0" name=""/>
        <dsp:cNvSpPr/>
      </dsp:nvSpPr>
      <dsp:spPr>
        <a:xfrm rot="10800000">
          <a:off x="1238069" y="2929"/>
          <a:ext cx="3563390" cy="1362095"/>
        </a:xfrm>
        <a:prstGeom prst="homePlat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64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JIRA</a:t>
          </a:r>
          <a:endParaRPr lang="en-IN" sz="3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578593" y="2929"/>
        <a:ext cx="3222866" cy="1362095"/>
      </dsp:txXfrm>
    </dsp:sp>
    <dsp:sp modelId="{EDBCC120-2B81-4AE3-80F6-0B9B6D0C9F55}">
      <dsp:nvSpPr>
        <dsp:cNvPr id="0" name=""/>
        <dsp:cNvSpPr/>
      </dsp:nvSpPr>
      <dsp:spPr>
        <a:xfrm>
          <a:off x="557021" y="2929"/>
          <a:ext cx="1362095" cy="1362095"/>
        </a:xfrm>
        <a:prstGeom prst="ellipse">
          <a:avLst/>
        </a:prstGeom>
        <a:blipFill dpi="0" rotWithShape="1">
          <a:blip xmlns:r="http://schemas.openxmlformats.org/officeDocument/2006/relationships" r:embed="rId1"/>
          <a:srcRect/>
          <a:stretch>
            <a:fillRect l="1" t="1" r="1852" b="1852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591774-CD06-4245-A196-9853A59AC3B9}">
      <dsp:nvSpPr>
        <dsp:cNvPr id="0" name=""/>
        <dsp:cNvSpPr/>
      </dsp:nvSpPr>
      <dsp:spPr>
        <a:xfrm rot="10800000">
          <a:off x="1238069" y="1771620"/>
          <a:ext cx="3563390" cy="1362095"/>
        </a:xfrm>
        <a:prstGeom prst="homePlate">
          <a:avLst/>
        </a:prstGeom>
        <a:solidFill>
          <a:schemeClr val="accent2">
            <a:hueOff val="17677"/>
            <a:satOff val="-17244"/>
            <a:lumOff val="-883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64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TRELLO</a:t>
          </a:r>
          <a:endParaRPr lang="en-IN" sz="3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578593" y="1771620"/>
        <a:ext cx="3222866" cy="1362095"/>
      </dsp:txXfrm>
    </dsp:sp>
    <dsp:sp modelId="{AFEA6446-2F5F-4E6C-B688-181DBAF70136}">
      <dsp:nvSpPr>
        <dsp:cNvPr id="0" name=""/>
        <dsp:cNvSpPr/>
      </dsp:nvSpPr>
      <dsp:spPr>
        <a:xfrm>
          <a:off x="557021" y="1771620"/>
          <a:ext cx="1362095" cy="1362095"/>
        </a:xfrm>
        <a:prstGeom prst="ellipse">
          <a:avLst/>
        </a:prstGeom>
        <a:blipFill dpi="0" rotWithShape="1">
          <a:blip xmlns:r="http://schemas.openxmlformats.org/officeDocument/2006/relationships" r:embed="rId2"/>
          <a:srcRect/>
          <a:stretch>
            <a:fillRect l="-80944" t="-49402" r="-79911" b="-45268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05D3A9-1659-4CE2-AD48-D09F42F14038}">
      <dsp:nvSpPr>
        <dsp:cNvPr id="0" name=""/>
        <dsp:cNvSpPr/>
      </dsp:nvSpPr>
      <dsp:spPr>
        <a:xfrm rot="10800000">
          <a:off x="1238069" y="3540312"/>
          <a:ext cx="3563390" cy="1362095"/>
        </a:xfrm>
        <a:prstGeom prst="homePlate">
          <a:avLst/>
        </a:prstGeom>
        <a:solidFill>
          <a:schemeClr val="accent2">
            <a:hueOff val="35353"/>
            <a:satOff val="-34487"/>
            <a:lumOff val="-1766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646" tIns="148590" rIns="277368" bIns="148590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AZURE BOARDS</a:t>
          </a:r>
          <a:endParaRPr lang="en-IN" sz="39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1578593" y="3540312"/>
        <a:ext cx="3222866" cy="1362095"/>
      </dsp:txXfrm>
    </dsp:sp>
    <dsp:sp modelId="{05610CC2-358D-4239-962D-BDB4DF48F035}">
      <dsp:nvSpPr>
        <dsp:cNvPr id="0" name=""/>
        <dsp:cNvSpPr/>
      </dsp:nvSpPr>
      <dsp:spPr>
        <a:xfrm>
          <a:off x="557021" y="3540312"/>
          <a:ext cx="1362095" cy="1362095"/>
        </a:xfrm>
        <a:prstGeom prst="ellipse">
          <a:avLst/>
        </a:prstGeom>
        <a:blipFill dpi="0" rotWithShape="1">
          <a:blip xmlns:r="http://schemas.openxmlformats.org/officeDocument/2006/relationships" r:embed="rId3"/>
          <a:srcRect/>
          <a:stretch>
            <a:fillRect l="-8907" t="9810" r="-33555" b="-28528"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EE3BF6-719D-46F2-A321-BC0495969FC4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AD25C5-C818-4260-83B6-363F535359E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876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6546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43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3486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4003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5612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7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514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481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6348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1306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55731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739064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449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51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0447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87821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438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BC730521-F49E-447B-B62D-C07FEC0E113F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9905D-B9FF-4D77-90D1-9C504AA4E8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53293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  <p:sldLayoutId id="2147483703" r:id="rId11"/>
    <p:sldLayoutId id="2147483704" r:id="rId12"/>
    <p:sldLayoutId id="2147483705" r:id="rId13"/>
    <p:sldLayoutId id="2147483706" r:id="rId14"/>
    <p:sldLayoutId id="2147483707" r:id="rId15"/>
    <p:sldLayoutId id="2147483708" r:id="rId16"/>
    <p:sldLayoutId id="214748370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2121-0345-4882-71F8-25D6EB2BCB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4571" y="2528221"/>
            <a:ext cx="8462857" cy="1435442"/>
          </a:xfrm>
        </p:spPr>
        <p:txBody>
          <a:bodyPr anchor="t">
            <a:normAutofit/>
          </a:bodyPr>
          <a:lstStyle/>
          <a:p>
            <a:pPr algn="l"/>
            <a:r>
              <a:rPr lang="en-US" sz="8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DevOps Lifecycle</a:t>
            </a:r>
            <a:endParaRPr lang="en-IN" sz="8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1342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88D8-AF0A-A085-D940-AC202D2D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75" y="72918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5E3D8B-8EFB-04AE-9BF8-05CDF5F7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9600" y="2252324"/>
            <a:ext cx="4196080" cy="2472075"/>
          </a:xfrm>
          <a:ln>
            <a:solidFill>
              <a:srgbClr val="C00000"/>
            </a:solidFill>
          </a:ln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is the first stage where project goals, requirements, and tasks are defined before development begins.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Content Placeholder 3" descr="File:Devops-toolchain.svg - Wikimedia Commons">
            <a:extLst>
              <a:ext uri="{FF2B5EF4-FFF2-40B4-BE49-F238E27FC236}">
                <a16:creationId xmlns:a16="http://schemas.microsoft.com/office/drawing/2014/main" id="{E33675FB-065B-663A-F062-969362684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1837" y="1605289"/>
            <a:ext cx="6006763" cy="340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0405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0833-11AC-1BDA-84FB-80309AAB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02F0-FD0F-C8CF-009C-5242B75FD63A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TOOLS</a:t>
            </a:r>
            <a:endParaRPr lang="en-IN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Content Placeholder 3">
            <a:extLst>
              <a:ext uri="{FF2B5EF4-FFF2-40B4-BE49-F238E27FC236}">
                <a16:creationId xmlns:a16="http://schemas.microsoft.com/office/drawing/2014/main" id="{9909EE23-DF62-3D13-C612-B4D87AB52F5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0738013"/>
              </p:ext>
            </p:extLst>
          </p:nvPr>
        </p:nvGraphicFramePr>
        <p:xfrm>
          <a:off x="5531215" y="976331"/>
          <a:ext cx="5358482" cy="4905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8697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8D4C62-8399-40EB-7BAB-42D5B135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135A3-7A6D-F8B7-5532-B94AB721E9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0285" y="791282"/>
            <a:ext cx="5246994" cy="1435442"/>
          </a:xfrm>
        </p:spPr>
        <p:txBody>
          <a:bodyPr anchor="t">
            <a:normAutofit/>
          </a:bodyPr>
          <a:lstStyle/>
          <a:p>
            <a:pPr algn="l"/>
            <a:r>
              <a:rPr lang="en-US" sz="88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</a:t>
            </a:r>
            <a:endParaRPr lang="en-IN" sz="88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EB157B30-668C-6085-121D-A990F6636F80}"/>
              </a:ext>
            </a:extLst>
          </p:cNvPr>
          <p:cNvSpPr/>
          <p:nvPr/>
        </p:nvSpPr>
        <p:spPr>
          <a:xfrm>
            <a:off x="4096001" y="578905"/>
            <a:ext cx="1362095" cy="1362095"/>
          </a:xfrm>
          <a:prstGeom prst="ellipse">
            <a:avLst/>
          </a:prstGeom>
          <a:blipFill dpi="0" rotWithShape="1">
            <a:blip r:embed="rId2"/>
            <a:srcRect/>
            <a:stretch>
              <a:fillRect l="1" t="1" r="1852" b="1852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2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431018-CA3B-5249-683E-BA6E6951CE45}"/>
              </a:ext>
            </a:extLst>
          </p:cNvPr>
          <p:cNvSpPr txBox="1"/>
          <p:nvPr/>
        </p:nvSpPr>
        <p:spPr>
          <a:xfrm>
            <a:off x="793978" y="2369178"/>
            <a:ext cx="10660959" cy="3021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Jira is an Issue Tracking and Agile Project Management tool.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Developed by Atlassian in 2002.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Used to plan, organize, assign and track project work. 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Supports Scrum and Kanban methodologies.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Widely used in software development teams.</a:t>
            </a:r>
          </a:p>
        </p:txBody>
      </p:sp>
    </p:spTree>
    <p:extLst>
      <p:ext uri="{BB962C8B-B14F-4D97-AF65-F5344CB8AC3E}">
        <p14:creationId xmlns:p14="http://schemas.microsoft.com/office/powerpoint/2010/main" val="2039313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B3CD24-56B4-DAE1-BA03-3D33972FF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754D0-61B8-7F67-25E7-FCE5A329B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24" y="207757"/>
            <a:ext cx="4282983" cy="1200361"/>
          </a:xfrm>
        </p:spPr>
        <p:txBody>
          <a:bodyPr anchor="b">
            <a:normAutofit/>
          </a:bodyPr>
          <a:lstStyle/>
          <a:p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FEATURES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5F7F1B8C-DD36-0B6C-44E4-15E48DB156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324" y="1954571"/>
            <a:ext cx="8775308" cy="3401961"/>
          </a:xfrm>
        </p:spPr>
        <p:txBody>
          <a:bodyPr anchor="ctr">
            <a:no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&amp; bug tracking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Scrum and Kanban boards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&amp; backlog management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workflows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reports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GitHub, Bitbucket, Jenkins, etc.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954B07-DFEB-2653-954B-5FC5CDFCE2CF}"/>
              </a:ext>
            </a:extLst>
          </p:cNvPr>
          <p:cNvSpPr/>
          <p:nvPr/>
        </p:nvSpPr>
        <p:spPr>
          <a:xfrm>
            <a:off x="764604" y="1404782"/>
            <a:ext cx="1816036" cy="9668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01750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3BC2DF-137B-B2DE-11FB-229B85B161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724"/>
            <a:ext cx="12192000" cy="592527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7C5AF489-3C77-25C9-F41E-01489FF90248}"/>
              </a:ext>
            </a:extLst>
          </p:cNvPr>
          <p:cNvSpPr/>
          <p:nvPr/>
        </p:nvSpPr>
        <p:spPr>
          <a:xfrm>
            <a:off x="2679032" y="144379"/>
            <a:ext cx="5967663" cy="67376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JIRA INTERFACE</a:t>
            </a:r>
            <a:endParaRPr lang="en-IN" sz="4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8958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2EFE07A-17D4-83C3-8C68-2C94AC0D3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30E7E-463E-3C9A-1A8F-977FA58C49F0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5191866-E4E8-231F-21DA-93F494715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8" y="164798"/>
            <a:ext cx="5533922" cy="963101"/>
          </a:xfrm>
          <a:noFill/>
        </p:spPr>
        <p:txBody>
          <a:bodyPr>
            <a:norm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Create Task</a:t>
            </a:r>
            <a:endParaRPr lang="en-IN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0DE45E1-6C09-7534-D751-0B896CABE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2019" y="1249680"/>
            <a:ext cx="4781581" cy="544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520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6365BF-4434-D3B9-D696-1BEA5357E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5CB96-CC63-38A4-4FCE-4E48CA139E5B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C6FD8DE-D136-1365-0AEF-A590376DE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9678" y="164798"/>
            <a:ext cx="6046838" cy="96310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Management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277B626-664F-7AC4-852C-F223263AF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683"/>
          <a:stretch>
            <a:fillRect/>
          </a:stretch>
        </p:blipFill>
        <p:spPr>
          <a:xfrm>
            <a:off x="2173698" y="1422400"/>
            <a:ext cx="8443501" cy="527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659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DF547-73B4-879B-4E6E-46D58AD67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7CE0-993F-3446-49D4-93A58B0F785A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4720828-B7A3-C79B-6ABD-A6520B519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2698" y="156141"/>
            <a:ext cx="6341806" cy="963101"/>
          </a:xfrm>
          <a:noFill/>
        </p:spPr>
        <p:txBody>
          <a:bodyPr>
            <a:noAutofit/>
          </a:bodyPr>
          <a:lstStyle/>
          <a:p>
            <a:pPr algn="ctr"/>
            <a:r>
              <a:rPr lang="en-IN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Jira Workflow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66CC32-BB59-0DCE-8C62-B652D806CC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113" y="1209368"/>
            <a:ext cx="8651062" cy="54924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2C3B072-A3AE-95DC-2EF3-A559B15A0459}"/>
              </a:ext>
            </a:extLst>
          </p:cNvPr>
          <p:cNvSpPr txBox="1"/>
          <p:nvPr/>
        </p:nvSpPr>
        <p:spPr>
          <a:xfrm>
            <a:off x="9261986" y="1809135"/>
            <a:ext cx="286118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✔ To Do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Task is yet to start.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🟡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Progress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Task is under      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   development.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⬇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✅ Done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         Task is completed.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CD4801-CB4B-CF9D-9F1C-10998F128737}"/>
              </a:ext>
            </a:extLst>
          </p:cNvPr>
          <p:cNvSpPr txBox="1"/>
          <p:nvPr/>
        </p:nvSpPr>
        <p:spPr>
          <a:xfrm>
            <a:off x="3456039" y="1294467"/>
            <a:ext cx="1991033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Kanban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>
                <a:ln w="0"/>
                <a:solidFill>
                  <a:prstClr val="white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ptos Narrow" panose="020B0004020202020204" pitchFamily="34" charset="0"/>
                <a:ea typeface="+mn-ea"/>
                <a:cs typeface="+mn-cs"/>
              </a:rPr>
              <a:t>Board View</a:t>
            </a: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 Narrow" panose="020B0004020202020204" pitchFamily="34" charset="0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BA914FA-D3EA-9D2E-9C24-234DD9E53103}"/>
              </a:ext>
            </a:extLst>
          </p:cNvPr>
          <p:cNvSpPr/>
          <p:nvPr/>
        </p:nvSpPr>
        <p:spPr>
          <a:xfrm>
            <a:off x="3057832" y="1209368"/>
            <a:ext cx="3195484" cy="412955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srgbClr val="FFCA08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90631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588D8-AF0A-A085-D940-AC202D2DC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973" y="586942"/>
            <a:ext cx="4282983" cy="1200361"/>
          </a:xfrm>
        </p:spPr>
        <p:txBody>
          <a:bodyPr anchor="b">
            <a:normAutofit/>
          </a:bodyPr>
          <a:lstStyle/>
          <a:p>
            <a:r>
              <a:rPr lang="en-US" sz="4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Trello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5E3D8B-8EFB-04AE-9BF8-05CDF5F79D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974" y="2252324"/>
            <a:ext cx="4282983" cy="2614315"/>
          </a:xfrm>
          <a:ln>
            <a:solidFill>
              <a:srgbClr val="C00000"/>
            </a:solidFill>
          </a:ln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is a free, web-based project management and productivity tool that helps individuals and teams organize tasks visually using boards, lists, and cards.</a:t>
            </a:r>
          </a:p>
          <a:p>
            <a:pPr marL="0" indent="0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Trello &amp; Slack Integration | Slack Marketplace">
            <a:extLst>
              <a:ext uri="{FF2B5EF4-FFF2-40B4-BE49-F238E27FC236}">
                <a16:creationId xmlns:a16="http://schemas.microsoft.com/office/drawing/2014/main" id="{A262DD2A-67C9-C65F-D3B2-107F614557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654" y="1011101"/>
            <a:ext cx="4440132" cy="43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908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0833-11AC-1BDA-84FB-80309AAB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590296" y="437872"/>
            <a:ext cx="3981283" cy="7386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4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Trello Features</a:t>
            </a:r>
            <a:endParaRPr kumimoji="0" sz="48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" y="1265952"/>
            <a:ext cx="502920" cy="635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6069E9-354B-47CB-AA19-AE9609B0B12B}"/>
              </a:ext>
            </a:extLst>
          </p:cNvPr>
          <p:cNvSpPr txBox="1"/>
          <p:nvPr/>
        </p:nvSpPr>
        <p:spPr>
          <a:xfrm>
            <a:off x="658368" y="1762284"/>
            <a:ext cx="1004824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Boards, Lists &amp; Cards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Drag-and-drop interface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dates &amp; Checklists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Labels &amp; Attachments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&amp; Collaboration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Calendar (Planner) view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Integrations with Slack, Email &amp; Google Calendar</a:t>
            </a:r>
          </a:p>
        </p:txBody>
      </p:sp>
    </p:spTree>
    <p:extLst>
      <p:ext uri="{BB962C8B-B14F-4D97-AF65-F5344CB8AC3E}">
        <p14:creationId xmlns:p14="http://schemas.microsoft.com/office/powerpoint/2010/main" val="1037015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5686D7-5E1C-3189-DB2A-2936ACD1A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60EB-38E2-8243-3993-6C367ECD4CD7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EEF11FC-C22A-D990-0827-375A0F1E2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8" y="156141"/>
            <a:ext cx="5092782" cy="96310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Workspace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1B60AC-87B5-2B77-553E-94C9D455CA0D}"/>
              </a:ext>
            </a:extLst>
          </p:cNvPr>
          <p:cNvCxnSpPr/>
          <p:nvPr/>
        </p:nvCxnSpPr>
        <p:spPr>
          <a:xfrm>
            <a:off x="0" y="335034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6BEA009D-2FE7-76D8-A4C0-2007B7C983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0814" y="1556429"/>
            <a:ext cx="3395444" cy="37451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B668DE-E29A-22B8-2030-2437939CAC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141"/>
          <a:stretch>
            <a:fillRect/>
          </a:stretch>
        </p:blipFill>
        <p:spPr>
          <a:xfrm>
            <a:off x="4823186" y="1556429"/>
            <a:ext cx="2803343" cy="41722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50C85F-B0FB-B66A-528F-C7A38094AF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859"/>
          <a:stretch>
            <a:fillRect/>
          </a:stretch>
        </p:blipFill>
        <p:spPr>
          <a:xfrm>
            <a:off x="8829040" y="1848791"/>
            <a:ext cx="2915458" cy="3160415"/>
          </a:xfrm>
          <a:prstGeom prst="rect">
            <a:avLst/>
          </a:prstGeom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8EBBDD33-CBC4-E64F-A1BF-9A670D513C21}"/>
              </a:ext>
            </a:extLst>
          </p:cNvPr>
          <p:cNvSpPr/>
          <p:nvPr/>
        </p:nvSpPr>
        <p:spPr>
          <a:xfrm rot="5400000">
            <a:off x="4172954" y="3203029"/>
            <a:ext cx="321844" cy="29464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789AE69D-C157-3810-E389-A7F40750AC3B}"/>
              </a:ext>
            </a:extLst>
          </p:cNvPr>
          <p:cNvSpPr/>
          <p:nvPr/>
        </p:nvSpPr>
        <p:spPr>
          <a:xfrm rot="5400000">
            <a:off x="8097058" y="3203029"/>
            <a:ext cx="321844" cy="294640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7872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65D3A3-D72E-0C12-D572-3B95F904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02A83D-DF28-8B01-C4B1-DFAEE2785FC7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FA8CF2B-186E-742D-ECCD-08753B7FB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8" y="156141"/>
            <a:ext cx="5092782" cy="96310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Workspace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959D96-9889-EB8D-242C-AFC1CFD914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930"/>
            <a:ext cx="12192000" cy="3954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5495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0833-11AC-1BDA-84FB-80309AAB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002F0-FD0F-C8CF-009C-5242B75FD63A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435081A-1A23-5A1F-EC39-788127DB8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8360"/>
            <a:ext cx="12192000" cy="5503499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30351F5-E5E8-66CA-445F-A7049D476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8" y="156141"/>
            <a:ext cx="4404852" cy="96310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Trello Board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265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AF23A9-BD63-D772-3BAA-9BE78AC24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DDF81-78E8-6984-6409-8117FBD5E3B8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3295ED2C-C11B-7362-ECA4-808825E6F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164" y="156141"/>
            <a:ext cx="3389671" cy="963101"/>
          </a:xfrm>
          <a:noFill/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Planner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AB394F-F525-7463-CB97-FDFFD3AEBF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8847" y="1149703"/>
            <a:ext cx="9014305" cy="570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479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932B01-4701-15F4-DCA1-C15D50906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6A0DC-30E7-4E3A-7E56-81E5286677B5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E491CEC-55F1-B139-BD00-321BB6272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164" y="156141"/>
            <a:ext cx="3389671" cy="963101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Inbox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838D30-16B1-3E68-2C9E-7EFD04E5F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93" t="1239" r="3892" b="4255"/>
          <a:stretch>
            <a:fillRect/>
          </a:stretch>
        </p:blipFill>
        <p:spPr>
          <a:xfrm>
            <a:off x="1857961" y="875411"/>
            <a:ext cx="2654711" cy="57349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B574017-EF32-F96F-5B1F-DBF9A3CD70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6659"/>
          <a:stretch>
            <a:fillRect/>
          </a:stretch>
        </p:blipFill>
        <p:spPr>
          <a:xfrm>
            <a:off x="7679330" y="875411"/>
            <a:ext cx="2474042" cy="5734912"/>
          </a:xfrm>
          <a:prstGeom prst="rect">
            <a:avLst/>
          </a:prstGeom>
        </p:spPr>
      </p:pic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E4BC38B5-E5DD-1478-857F-11ED95107640}"/>
              </a:ext>
            </a:extLst>
          </p:cNvPr>
          <p:cNvCxnSpPr>
            <a:cxnSpLocks/>
          </p:cNvCxnSpPr>
          <p:nvPr/>
        </p:nvCxnSpPr>
        <p:spPr>
          <a:xfrm flipV="1">
            <a:off x="4739148" y="3234813"/>
            <a:ext cx="2733368" cy="978323"/>
          </a:xfrm>
          <a:prstGeom prst="curvedConnector3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7075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480978-D330-1CFB-E574-FA5FB92AE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1A903-F717-1EE3-3494-355B83047560}"/>
              </a:ext>
            </a:extLst>
          </p:cNvPr>
          <p:cNvSpPr txBox="1">
            <a:spLocks/>
          </p:cNvSpPr>
          <p:nvPr/>
        </p:nvSpPr>
        <p:spPr>
          <a:xfrm>
            <a:off x="938432" y="2487562"/>
            <a:ext cx="3689768" cy="172557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5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54298F0-1EDC-B7AC-107B-103421F50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1164" y="87315"/>
            <a:ext cx="3389671" cy="963101"/>
          </a:xfrm>
          <a:noFill/>
        </p:spPr>
        <p:txBody>
          <a:bodyPr>
            <a:normAutofit fontScale="90000"/>
          </a:bodyPr>
          <a:lstStyle/>
          <a:p>
            <a:pPr algn="ctr"/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Cards</a:t>
            </a:r>
            <a:endParaRPr lang="en-IN" sz="6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2E4572-6A4F-C300-0756-D8AF1C4411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0"/>
          <a:stretch>
            <a:fillRect/>
          </a:stretch>
        </p:blipFill>
        <p:spPr>
          <a:xfrm>
            <a:off x="0" y="1119242"/>
            <a:ext cx="6274928" cy="33349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BB5BF15-60B3-ADDE-4233-CEE3E83C30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32"/>
          <a:stretch>
            <a:fillRect/>
          </a:stretch>
        </p:blipFill>
        <p:spPr>
          <a:xfrm>
            <a:off x="5319792" y="3234813"/>
            <a:ext cx="6872208" cy="362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0713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10833-11AC-1BDA-84FB-80309AAB9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52272" y="338763"/>
            <a:ext cx="6778522" cy="58477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Times New Roman"/>
                <a:ea typeface="+mn-ea"/>
                <a:cs typeface="+mn-cs"/>
              </a:rPr>
              <a:t>Which Tool Should You Choose?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960120"/>
            <a:ext cx="502920" cy="6350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761030" y="1539240"/>
            <a:ext cx="3456432" cy="4709160"/>
          </a:xfrm>
          <a:prstGeom prst="roundRect">
            <a:avLst>
              <a:gd name="adj" fmla="val 45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761030" y="1539240"/>
            <a:ext cx="3456432" cy="1143000"/>
          </a:xfrm>
          <a:prstGeom prst="roundRect">
            <a:avLst>
              <a:gd name="adj" fmla="val 4500"/>
            </a:avLst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761030" y="2133600"/>
            <a:ext cx="3456432" cy="548640"/>
          </a:xfrm>
          <a:prstGeom prst="rect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2604106" y="1740408"/>
            <a:ext cx="731520" cy="731520"/>
          </a:xfrm>
          <a:prstGeom prst="ellipse">
            <a:avLst/>
          </a:prstGeom>
          <a:solidFill>
            <a:srgbClr val="2CA5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5" name="Picture 14" descr="iconw_kanb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023" y="1945233"/>
            <a:ext cx="321870" cy="3218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05144" y="1818495"/>
            <a:ext cx="1660963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Trello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7062" y="2865120"/>
            <a:ext cx="29443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2CA58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7062" y="3185160"/>
            <a:ext cx="2944368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Freelancers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Small startups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7062" y="4282440"/>
            <a:ext cx="29443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CA58D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7062" y="4602480"/>
            <a:ext cx="2944368" cy="12157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Easy to learn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Simple interface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Drag-and-drop boards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Free for basic projects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32705" y="1528565"/>
            <a:ext cx="3456432" cy="4709160"/>
          </a:xfrm>
          <a:prstGeom prst="roundRect">
            <a:avLst>
              <a:gd name="adj" fmla="val 4500"/>
            </a:avLst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32705" y="1528565"/>
            <a:ext cx="3456432" cy="1143000"/>
          </a:xfrm>
          <a:prstGeom prst="roundRect">
            <a:avLst>
              <a:gd name="adj" fmla="val 4500"/>
            </a:avLst>
          </a:prstGeom>
          <a:solidFill>
            <a:srgbClr val="2F5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832705" y="2122925"/>
            <a:ext cx="3456432" cy="548640"/>
          </a:xfrm>
          <a:prstGeom prst="rect">
            <a:avLst/>
          </a:prstGeom>
          <a:solidFill>
            <a:srgbClr val="2F5F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5" name="Picture 24" descr="iconw_ti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698" y="1934558"/>
            <a:ext cx="321870" cy="3218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560568" y="1793628"/>
            <a:ext cx="1660963" cy="55399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+mn-ea"/>
                <a:cs typeface="+mn-cs"/>
              </a:rPr>
              <a:t>Jira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88737" y="2854445"/>
            <a:ext cx="29443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5FD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BEST FOR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8737" y="3174485"/>
            <a:ext cx="2944368" cy="892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Software dev teams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Agile projects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Scrum teams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8737" y="4271765"/>
            <a:ext cx="2944368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2F5FDE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8737" y="4591805"/>
            <a:ext cx="2944368" cy="121571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Backlog management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Issue tracking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sz="1600" b="0" i="0" u="none" strike="noStrike" kern="1200" cap="none" spc="0" normalizeH="0" baseline="0" noProof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Advanced reporting</a:t>
            </a:r>
          </a:p>
        </p:txBody>
      </p:sp>
    </p:spTree>
    <p:extLst>
      <p:ext uri="{BB962C8B-B14F-4D97-AF65-F5344CB8AC3E}">
        <p14:creationId xmlns:p14="http://schemas.microsoft.com/office/powerpoint/2010/main" val="2131104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Yellow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FFCA08"/>
      </a:accent1>
      <a:accent2>
        <a:srgbClr val="F8931D"/>
      </a:accent2>
      <a:accent3>
        <a:srgbClr val="CE8D3E"/>
      </a:accent3>
      <a:accent4>
        <a:srgbClr val="EC7016"/>
      </a:accent4>
      <a:accent5>
        <a:srgbClr val="E64823"/>
      </a:accent5>
      <a:accent6>
        <a:srgbClr val="9C6A6A"/>
      </a:accent6>
      <a:hlink>
        <a:srgbClr val="2998E3"/>
      </a:hlink>
      <a:folHlink>
        <a:srgbClr val="7F723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